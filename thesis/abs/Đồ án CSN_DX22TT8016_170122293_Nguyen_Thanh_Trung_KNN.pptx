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68" r:id="rId6"/>
    <p:sldId id="273" r:id="rId7"/>
    <p:sldId id="274" r:id="rId8"/>
    <p:sldId id="275" r:id="rId9"/>
    <p:sldId id="276" r:id="rId10"/>
    <p:sldId id="282" r:id="rId11"/>
    <p:sldId id="283" r:id="rId12"/>
    <p:sldId id="277" r:id="rId13"/>
    <p:sldId id="284" r:id="rId14"/>
    <p:sldId id="278" r:id="rId15"/>
    <p:sldId id="279" r:id="rId16"/>
    <p:sldId id="280" r:id="rId17"/>
    <p:sldId id="281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ành Trung Nguyễn" initials="TTN" lastIdx="4" clrIdx="0">
    <p:extLst>
      <p:ext uri="{19B8F6BF-5375-455C-9EA6-DF929625EA0E}">
        <p15:presenceInfo xmlns:p15="http://schemas.microsoft.com/office/powerpoint/2012/main" userId="bae84fe9c3519b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F047"/>
    <a:srgbClr val="00CCFF"/>
    <a:srgbClr val="394404"/>
    <a:srgbClr val="5F6F0F"/>
    <a:srgbClr val="718412"/>
    <a:srgbClr val="65741A"/>
    <a:srgbClr val="70811D"/>
    <a:srgbClr val="7B8D1F"/>
    <a:srgbClr val="839721"/>
    <a:srgbClr val="95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>
      <p:cViewPr varScale="1">
        <p:scale>
          <a:sx n="89" d="100"/>
          <a:sy n="89" d="100"/>
        </p:scale>
        <p:origin x="618" y="6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996155627605374"/>
          <c:y val="0"/>
          <c:w val="0.6392156862745097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30F047"/>
            </a:solidFill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8CC-4ACC-BA70-43DCF19E49E0}"/>
              </c:ext>
            </c:extLst>
          </c:dPt>
          <c:dPt>
            <c:idx val="1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8CC-4ACC-BA70-43DCF19E49E0}"/>
              </c:ext>
            </c:extLst>
          </c:dPt>
          <c:dPt>
            <c:idx val="2"/>
            <c:bubble3D val="0"/>
            <c:spPr>
              <a:solidFill>
                <a:srgbClr val="30F04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8CC-4ACC-BA70-43DCF19E49E0}"/>
              </c:ext>
            </c:extLst>
          </c:dPt>
          <c:dPt>
            <c:idx val="3"/>
            <c:bubble3D val="0"/>
            <c:spPr>
              <a:solidFill>
                <a:srgbClr val="30F04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8CC-4ACC-BA70-43DCF19E49E0}"/>
              </c:ext>
            </c:extLst>
          </c:dPt>
          <c:cat>
            <c:strRef>
              <c:f>Sheet1!$A$2:$A$5</c:f>
              <c:strCache>
                <c:ptCount val="2"/>
                <c:pt idx="0">
                  <c:v>Đúng</c:v>
                </c:pt>
                <c:pt idx="1">
                  <c:v>Sai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2.9000000000000057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CC-4ACC-BA70-43DCF19E4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78658993361123974"/>
          <c:y val="0.24236517605110683"/>
          <c:w val="0.21341006638876023"/>
          <c:h val="0.471244490665082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0.35882</cdr:x>
      <cdr:y>0.39712</cdr:y>
    </cdr:from>
    <cdr:to>
      <cdr:x>0.64118</cdr:x>
      <cdr:y>0.60288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F82212E-9DF7-4E74-97B8-011DC8BD8EFF}"/>
            </a:ext>
          </a:extLst>
        </cdr:cNvPr>
        <cdr:cNvSpPr txBox="1"/>
      </cdr:nvSpPr>
      <cdr:spPr>
        <a:xfrm xmlns:a="http://schemas.openxmlformats.org/drawingml/2006/main">
          <a:off x="2324100" y="1603801"/>
          <a:ext cx="1828800" cy="830997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rtlCol="0">
          <a:spAutoFit/>
        </a:bodyPr>
        <a:lstStyle xmlns:a="http://schemas.openxmlformats.org/drawingml/2006/main"/>
        <a:p xmlns:a="http://schemas.openxmlformats.org/drawingml/2006/main">
          <a:r>
            <a:rPr lang="en-US" sz="4800" b="1">
              <a:solidFill>
                <a:schemeClr val="accent1">
                  <a:lumMod val="40000"/>
                  <a:lumOff val="60000"/>
                </a:schemeClr>
              </a:solidFill>
            </a:rPr>
            <a:t>97.1%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04-May-26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04-May-26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04-May-26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04-May-26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170122293@rdi.edu.vn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9346036" cy="2082799"/>
          </a:xfrm>
        </p:spPr>
        <p:txBody>
          <a:bodyPr/>
          <a:lstStyle/>
          <a:p>
            <a:r>
              <a:rPr lang="en-US"/>
              <a:t>NHẬN DẠNG CHỮ SỐ VIẾT TAY</a:t>
            </a:r>
            <a:br>
              <a:rPr lang="en-US"/>
            </a:br>
            <a:r>
              <a:rPr lang="en-US">
                <a:solidFill>
                  <a:srgbClr val="30F047"/>
                </a:solidFill>
              </a:rPr>
              <a:t>BẰNG THUẬT TOÁN KNN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970212" y="4114800"/>
            <a:ext cx="5536036" cy="11176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000" cap="none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Sinh</a:t>
            </a:r>
            <a:r>
              <a:rPr lang="en-US" sz="2000" cap="none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cap="none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viên</a:t>
            </a:r>
            <a:r>
              <a:rPr lang="en-US" sz="2000" cap="none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cap="none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thực</a:t>
            </a:r>
            <a:r>
              <a:rPr lang="en-US" sz="2000" cap="none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cap="none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hiện</a:t>
            </a:r>
            <a:r>
              <a:rPr lang="en-US" sz="2000" cap="none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2000" cap="none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Times New Roman" panose="02020603050405020304" pitchFamily="18" charset="0"/>
              </a:rPr>
              <a:t>Nguyễn Thành Trung</a:t>
            </a:r>
            <a:br>
              <a:rPr lang="en-US" sz="20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000" cap="none" err="1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Mã</a:t>
            </a:r>
            <a:r>
              <a:rPr lang="en-US" sz="20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cap="none" err="1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số</a:t>
            </a:r>
            <a:r>
              <a:rPr lang="en-US" sz="20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 SV: 170122293</a:t>
            </a:r>
          </a:p>
          <a:p>
            <a:pPr algn="ctr"/>
            <a:r>
              <a:rPr lang="en-US" sz="2000" cap="none" err="1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Mã</a:t>
            </a:r>
            <a:r>
              <a:rPr lang="en-US" sz="20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cap="none" err="1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lớp</a:t>
            </a:r>
            <a:r>
              <a:rPr lang="en-US" sz="20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: DX22TT8016</a:t>
            </a:r>
          </a:p>
          <a:p>
            <a:pPr algn="ctr"/>
            <a:r>
              <a:rPr lang="en-US" sz="20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Đại học Trà Vinh</a:t>
            </a:r>
          </a:p>
          <a:p>
            <a:pPr algn="ctr"/>
            <a:endParaRPr lang="en-US" sz="2000" cap="none">
              <a:solidFill>
                <a:schemeClr val="tx2">
                  <a:lumMod val="40000"/>
                  <a:lumOff val="60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F3B5EA-0120-4769-A821-73C9ACD599E1}"/>
              </a:ext>
            </a:extLst>
          </p:cNvPr>
          <p:cNvCxnSpPr>
            <a:cxnSpLocks/>
          </p:cNvCxnSpPr>
          <p:nvPr/>
        </p:nvCxnSpPr>
        <p:spPr>
          <a:xfrm>
            <a:off x="1674812" y="3200400"/>
            <a:ext cx="8839200" cy="0"/>
          </a:xfrm>
          <a:prstGeom prst="line">
            <a:avLst/>
          </a:prstGeom>
          <a:ln w="25400">
            <a:solidFill>
              <a:srgbClr val="30F0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979612" y="274637"/>
            <a:ext cx="9599772" cy="1096963"/>
          </a:xfrm>
        </p:spPr>
        <p:txBody>
          <a:bodyPr/>
          <a:lstStyle/>
          <a:p>
            <a:r>
              <a:rPr lang="en-US">
                <a:solidFill>
                  <a:srgbClr val="30F047"/>
                </a:solidFill>
              </a:rPr>
              <a:t>TỔNG QUAN DỰ 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D219A-5471-42F9-A99D-03712FC9ABCB}"/>
              </a:ext>
            </a:extLst>
          </p:cNvPr>
          <p:cNvSpPr/>
          <p:nvPr/>
        </p:nvSpPr>
        <p:spPr>
          <a:xfrm>
            <a:off x="1218883" y="2438400"/>
            <a:ext cx="2741929" cy="3657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err="1"/>
              <a:t>Mục</a:t>
            </a:r>
            <a:r>
              <a:rPr lang="en-US" sz="2000" b="1"/>
              <a:t> tiêu</a:t>
            </a:r>
          </a:p>
          <a:p>
            <a:endParaRPr lang="en-US" sz="2000" b="1"/>
          </a:p>
          <a:p>
            <a:r>
              <a:rPr lang="en-US" sz="2000" err="1"/>
              <a:t>Xây</a:t>
            </a:r>
            <a:r>
              <a:rPr lang="en-US" sz="2000"/>
              <a:t> </a:t>
            </a:r>
            <a:r>
              <a:rPr lang="en-US" sz="2000" err="1"/>
              <a:t>dựng</a:t>
            </a:r>
            <a:r>
              <a:rPr lang="en-US" sz="2000"/>
              <a:t> </a:t>
            </a:r>
            <a:r>
              <a:rPr lang="en-US" sz="2000" err="1"/>
              <a:t>hệ</a:t>
            </a:r>
            <a:r>
              <a:rPr lang="en-US" sz="2000"/>
              <a:t> </a:t>
            </a:r>
            <a:r>
              <a:rPr lang="en-US" sz="2000" err="1"/>
              <a:t>thống</a:t>
            </a:r>
            <a:r>
              <a:rPr lang="en-US" sz="2000"/>
              <a:t> </a:t>
            </a:r>
            <a:r>
              <a:rPr lang="en-US" sz="2000" err="1"/>
              <a:t>phân</a:t>
            </a:r>
            <a:r>
              <a:rPr lang="en-US" sz="2000"/>
              <a:t> </a:t>
            </a:r>
            <a:r>
              <a:rPr lang="en-US" sz="2000" err="1"/>
              <a:t>loại</a:t>
            </a:r>
            <a:r>
              <a:rPr lang="en-US" sz="2000"/>
              <a:t> </a:t>
            </a:r>
            <a:r>
              <a:rPr lang="en-US" sz="2000" err="1"/>
              <a:t>chữ</a:t>
            </a:r>
            <a:r>
              <a:rPr lang="en-US" sz="2000"/>
              <a:t> </a:t>
            </a:r>
            <a:r>
              <a:rPr lang="en-US" sz="2000" err="1"/>
              <a:t>số</a:t>
            </a:r>
            <a:r>
              <a:rPr lang="en-US" sz="2000"/>
              <a:t> </a:t>
            </a:r>
            <a:r>
              <a:rPr lang="en-US" sz="2000" err="1"/>
              <a:t>viết</a:t>
            </a:r>
            <a:r>
              <a:rPr lang="en-US" sz="2000"/>
              <a:t> </a:t>
            </a:r>
            <a:r>
              <a:rPr lang="en-US" sz="2000" err="1"/>
              <a:t>tay</a:t>
            </a:r>
            <a:r>
              <a:rPr lang="en-US" sz="2000"/>
              <a:t> </a:t>
            </a:r>
            <a:r>
              <a:rPr lang="en-US" sz="2000" err="1"/>
              <a:t>từ</a:t>
            </a:r>
            <a:r>
              <a:rPr lang="en-US" sz="2000"/>
              <a:t> 0 </a:t>
            </a:r>
            <a:r>
              <a:rPr lang="en-US" sz="2000" err="1"/>
              <a:t>đến</a:t>
            </a:r>
            <a:r>
              <a:rPr lang="en-US" sz="2000"/>
              <a:t> 9 </a:t>
            </a:r>
            <a:r>
              <a:rPr lang="en-US" sz="2000" err="1"/>
              <a:t>với</a:t>
            </a:r>
            <a:r>
              <a:rPr lang="en-US" sz="2000"/>
              <a:t> </a:t>
            </a:r>
            <a:r>
              <a:rPr lang="en-US" sz="2000" err="1"/>
              <a:t>độ</a:t>
            </a:r>
            <a:r>
              <a:rPr lang="en-US" sz="2000"/>
              <a:t> </a:t>
            </a:r>
            <a:r>
              <a:rPr lang="en-US" sz="2000" err="1"/>
              <a:t>chính</a:t>
            </a:r>
            <a:r>
              <a:rPr lang="en-US" sz="2000"/>
              <a:t> </a:t>
            </a:r>
            <a:r>
              <a:rPr lang="en-US" sz="2000" err="1"/>
              <a:t>xác</a:t>
            </a:r>
            <a:r>
              <a:rPr lang="en-US" sz="2000"/>
              <a:t> </a:t>
            </a:r>
            <a:r>
              <a:rPr lang="en-US" sz="2000" err="1"/>
              <a:t>cao</a:t>
            </a:r>
            <a:r>
              <a:rPr lang="en-US" sz="2000"/>
              <a:t> </a:t>
            </a:r>
            <a:r>
              <a:rPr lang="en-US" sz="2000" err="1"/>
              <a:t>dựa</a:t>
            </a:r>
            <a:r>
              <a:rPr lang="en-US" sz="2000"/>
              <a:t> </a:t>
            </a:r>
            <a:r>
              <a:rPr lang="en-US" sz="2000" err="1"/>
              <a:t>trên</a:t>
            </a:r>
            <a:r>
              <a:rPr lang="en-US" sz="2000"/>
              <a:t> </a:t>
            </a:r>
            <a:r>
              <a:rPr lang="en-US" sz="2000" err="1"/>
              <a:t>tập</a:t>
            </a:r>
            <a:r>
              <a:rPr lang="en-US" sz="2000"/>
              <a:t> </a:t>
            </a:r>
            <a:r>
              <a:rPr lang="en-US" sz="2000" err="1"/>
              <a:t>dữ</a:t>
            </a:r>
            <a:r>
              <a:rPr lang="en-US" sz="2000"/>
              <a:t> </a:t>
            </a:r>
            <a:r>
              <a:rPr lang="en-US" sz="2000" err="1"/>
              <a:t>liệu</a:t>
            </a:r>
            <a:r>
              <a:rPr lang="en-US" sz="2000"/>
              <a:t> </a:t>
            </a:r>
            <a:r>
              <a:rPr lang="en-US" sz="2000" err="1"/>
              <a:t>chuẩn</a:t>
            </a:r>
            <a:r>
              <a:rPr lang="en-US" sz="2000"/>
              <a:t> MNIST.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DB4735-D225-45DA-B033-CAC17A943C6B}"/>
              </a:ext>
            </a:extLst>
          </p:cNvPr>
          <p:cNvSpPr/>
          <p:nvPr/>
        </p:nvSpPr>
        <p:spPr>
          <a:xfrm>
            <a:off x="4418012" y="2438400"/>
            <a:ext cx="3124200" cy="3631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err="1"/>
              <a:t>Công</a:t>
            </a:r>
            <a:r>
              <a:rPr lang="en-US" sz="2000" b="1"/>
              <a:t> nghệ</a:t>
            </a:r>
          </a:p>
          <a:p>
            <a:br>
              <a:rPr lang="en-US" sz="2000"/>
            </a:br>
            <a:r>
              <a:rPr lang="en-US" sz="2000" err="1"/>
              <a:t>Sử</a:t>
            </a:r>
            <a:r>
              <a:rPr lang="en-US" sz="2000"/>
              <a:t> </a:t>
            </a:r>
            <a:r>
              <a:rPr lang="en-US" sz="2000" err="1"/>
              <a:t>dụng</a:t>
            </a:r>
            <a:r>
              <a:rPr lang="en-US" sz="2000"/>
              <a:t> </a:t>
            </a:r>
            <a:r>
              <a:rPr lang="en-US" sz="2000" err="1"/>
              <a:t>ngôn</a:t>
            </a:r>
            <a:r>
              <a:rPr lang="en-US" sz="2000"/>
              <a:t> </a:t>
            </a:r>
            <a:r>
              <a:rPr lang="en-US" sz="2000" err="1"/>
              <a:t>ngữ</a:t>
            </a:r>
            <a:r>
              <a:rPr lang="en-US" sz="2000"/>
              <a:t> Python </a:t>
            </a:r>
            <a:r>
              <a:rPr lang="en-US" sz="2000" err="1"/>
              <a:t>kết</a:t>
            </a:r>
            <a:r>
              <a:rPr lang="en-US" sz="2000"/>
              <a:t> </a:t>
            </a:r>
            <a:r>
              <a:rPr lang="en-US" sz="2000" err="1"/>
              <a:t>hợp</a:t>
            </a:r>
            <a:r>
              <a:rPr lang="en-US" sz="2000"/>
              <a:t> </a:t>
            </a:r>
            <a:r>
              <a:rPr lang="en-US" sz="2000" err="1"/>
              <a:t>các</a:t>
            </a:r>
            <a:r>
              <a:rPr lang="en-US" sz="2000"/>
              <a:t> </a:t>
            </a:r>
            <a:r>
              <a:rPr lang="en-US" sz="2000" err="1"/>
              <a:t>thư</a:t>
            </a:r>
            <a:r>
              <a:rPr lang="en-US" sz="2000"/>
              <a:t> </a:t>
            </a:r>
            <a:r>
              <a:rPr lang="en-US" sz="2000" err="1"/>
              <a:t>viện</a:t>
            </a:r>
            <a:r>
              <a:rPr lang="en-US" sz="2000"/>
              <a:t> Machine Learning </a:t>
            </a:r>
            <a:r>
              <a:rPr lang="en-US" sz="2000" err="1"/>
              <a:t>mạnh</a:t>
            </a:r>
            <a:r>
              <a:rPr lang="en-US" sz="2000"/>
              <a:t> </a:t>
            </a:r>
            <a:r>
              <a:rPr lang="en-US" sz="2000" err="1"/>
              <a:t>mẽ</a:t>
            </a:r>
            <a:r>
              <a:rPr lang="en-US" sz="2000"/>
              <a:t> </a:t>
            </a:r>
            <a:r>
              <a:rPr lang="en-US" sz="2000" err="1"/>
              <a:t>như</a:t>
            </a:r>
            <a:r>
              <a:rPr lang="en-US" sz="2000"/>
              <a:t> Scikit-learn, </a:t>
            </a:r>
            <a:r>
              <a:rPr lang="en-US" sz="2000" err="1"/>
              <a:t>Numpy</a:t>
            </a:r>
            <a:r>
              <a:rPr lang="en-US" sz="2000"/>
              <a:t>, Matplotlib, Pandas, Seaborn, </a:t>
            </a:r>
            <a:r>
              <a:rPr lang="en-US" sz="2000" err="1"/>
              <a:t>Openpyxl</a:t>
            </a:r>
            <a:r>
              <a:rPr lang="en-US" sz="200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A31A51-6FF2-4991-B346-B4EA7BCC5C94}"/>
              </a:ext>
            </a:extLst>
          </p:cNvPr>
          <p:cNvSpPr/>
          <p:nvPr/>
        </p:nvSpPr>
        <p:spPr>
          <a:xfrm>
            <a:off x="7999412" y="2457226"/>
            <a:ext cx="2362200" cy="3631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err="1"/>
              <a:t>Giải</a:t>
            </a:r>
            <a:r>
              <a:rPr lang="en-US" sz="2000" b="1"/>
              <a:t> thuật</a:t>
            </a:r>
          </a:p>
          <a:p>
            <a:br>
              <a:rPr lang="en-US" sz="2000"/>
            </a:br>
            <a:r>
              <a:rPr lang="en-US" sz="2000" err="1"/>
              <a:t>Áp</a:t>
            </a:r>
            <a:r>
              <a:rPr lang="en-US" sz="2000"/>
              <a:t> </a:t>
            </a:r>
            <a:r>
              <a:rPr lang="en-US" sz="2000" err="1"/>
              <a:t>dụng</a:t>
            </a:r>
            <a:r>
              <a:rPr lang="en-US" sz="2000"/>
              <a:t> </a:t>
            </a:r>
            <a:r>
              <a:rPr lang="en-US" sz="2000" err="1"/>
              <a:t>thuật</a:t>
            </a:r>
            <a:r>
              <a:rPr lang="en-US" sz="2000"/>
              <a:t> </a:t>
            </a:r>
            <a:r>
              <a:rPr lang="en-US" sz="2000" err="1"/>
              <a:t>toán</a:t>
            </a:r>
            <a:r>
              <a:rPr lang="en-US" sz="2000"/>
              <a:t> KNN – </a:t>
            </a:r>
            <a:r>
              <a:rPr lang="en-US" sz="2000" err="1"/>
              <a:t>một</a:t>
            </a:r>
            <a:r>
              <a:rPr lang="en-US" sz="2000"/>
              <a:t> </a:t>
            </a:r>
            <a:r>
              <a:rPr lang="en-US" sz="2000" err="1"/>
              <a:t>giải</a:t>
            </a:r>
            <a:r>
              <a:rPr lang="en-US" sz="2000"/>
              <a:t> </a:t>
            </a:r>
            <a:r>
              <a:rPr lang="en-US" sz="2000" err="1"/>
              <a:t>thuật</a:t>
            </a:r>
            <a:r>
              <a:rPr lang="en-US" sz="2000"/>
              <a:t> </a:t>
            </a:r>
            <a:r>
              <a:rPr lang="en-US" sz="2000" err="1"/>
              <a:t>học</a:t>
            </a:r>
            <a:r>
              <a:rPr lang="en-US" sz="2000"/>
              <a:t> </a:t>
            </a:r>
            <a:r>
              <a:rPr lang="en-US" sz="2000" err="1"/>
              <a:t>máy</a:t>
            </a:r>
            <a:r>
              <a:rPr lang="en-US" sz="2000"/>
              <a:t> </a:t>
            </a:r>
            <a:r>
              <a:rPr lang="en-US" sz="2000" err="1"/>
              <a:t>có</a:t>
            </a:r>
            <a:r>
              <a:rPr lang="en-US" sz="2000"/>
              <a:t> </a:t>
            </a:r>
            <a:r>
              <a:rPr lang="en-US" sz="2000" err="1"/>
              <a:t>giám</a:t>
            </a:r>
            <a:r>
              <a:rPr lang="en-US" sz="2000"/>
              <a:t> </a:t>
            </a:r>
            <a:r>
              <a:rPr lang="en-US" sz="2000" err="1"/>
              <a:t>sát</a:t>
            </a:r>
            <a:r>
              <a:rPr lang="en-US" sz="2000"/>
              <a:t> </a:t>
            </a:r>
            <a:r>
              <a:rPr lang="en-US" sz="2000" err="1"/>
              <a:t>đơn</a:t>
            </a:r>
            <a:r>
              <a:rPr lang="en-US" sz="2000"/>
              <a:t> </a:t>
            </a:r>
            <a:r>
              <a:rPr lang="en-US" sz="2000" err="1"/>
              <a:t>giản</a:t>
            </a:r>
            <a:r>
              <a:rPr lang="en-US" sz="2000"/>
              <a:t> </a:t>
            </a:r>
            <a:r>
              <a:rPr lang="en-US" sz="2000" err="1"/>
              <a:t>nhưng</a:t>
            </a:r>
            <a:r>
              <a:rPr lang="en-US" sz="2000"/>
              <a:t> </a:t>
            </a:r>
            <a:r>
              <a:rPr lang="en-US" sz="2000" err="1"/>
              <a:t>hiệu</a:t>
            </a:r>
            <a:r>
              <a:rPr lang="en-US" sz="2000"/>
              <a:t> </a:t>
            </a:r>
            <a:r>
              <a:rPr lang="en-US" sz="2000" err="1"/>
              <a:t>quả</a:t>
            </a:r>
            <a:r>
              <a:rPr lang="en-US" sz="2000"/>
              <a:t>.</a:t>
            </a:r>
          </a:p>
        </p:txBody>
      </p:sp>
      <p:pic>
        <p:nvPicPr>
          <p:cNvPr id="7" name="Graphic 6" descr="Brain with solid fill">
            <a:extLst>
              <a:ext uri="{FF2B5EF4-FFF2-40B4-BE49-F238E27FC236}">
                <a16:creationId xmlns:a16="http://schemas.microsoft.com/office/drawing/2014/main" id="{D9BEA278-36AB-4851-97C3-5A8308CA65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417" y="457200"/>
            <a:ext cx="914400" cy="914400"/>
          </a:xfrm>
          <a:prstGeom prst="rect">
            <a:avLst/>
          </a:prstGeom>
        </p:spPr>
      </p:pic>
      <p:pic>
        <p:nvPicPr>
          <p:cNvPr id="11" name="Graphic 10" descr="Robot with solid fill">
            <a:extLst>
              <a:ext uri="{FF2B5EF4-FFF2-40B4-BE49-F238E27FC236}">
                <a16:creationId xmlns:a16="http://schemas.microsoft.com/office/drawing/2014/main" id="{B24BCE6C-7E86-4AE7-8446-2C57752BAA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1803" y="2457226"/>
            <a:ext cx="529609" cy="529609"/>
          </a:xfrm>
          <a:prstGeom prst="rect">
            <a:avLst/>
          </a:prstGeom>
        </p:spPr>
      </p:pic>
      <p:pic>
        <p:nvPicPr>
          <p:cNvPr id="15" name="Graphic 14" descr="Atom with solid fill">
            <a:extLst>
              <a:ext uri="{FF2B5EF4-FFF2-40B4-BE49-F238E27FC236}">
                <a16:creationId xmlns:a16="http://schemas.microsoft.com/office/drawing/2014/main" id="{0F6232BB-D3C2-448D-A697-CC435ABD8C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9412" y="2457226"/>
            <a:ext cx="529609" cy="529609"/>
          </a:xfrm>
          <a:prstGeom prst="rect">
            <a:avLst/>
          </a:prstGeom>
        </p:spPr>
      </p:pic>
      <p:pic>
        <p:nvPicPr>
          <p:cNvPr id="17" name="Graphic 16" descr="Bullseye with solid fill">
            <a:extLst>
              <a:ext uri="{FF2B5EF4-FFF2-40B4-BE49-F238E27FC236}">
                <a16:creationId xmlns:a16="http://schemas.microsoft.com/office/drawing/2014/main" id="{46AB55A9-144B-44D3-B06C-A5899190E4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0596" y="2438400"/>
            <a:ext cx="519158" cy="5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70012" y="329901"/>
            <a:ext cx="8001000" cy="99060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30F047"/>
                </a:solidFill>
              </a:rPr>
              <a:t>THUẬT TOÁN K – NEAREST NEIGHBORS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136014" y="1676400"/>
            <a:ext cx="5007928" cy="3657600"/>
          </a:xfrm>
        </p:spPr>
        <p:txBody>
          <a:bodyPr>
            <a:normAutofit/>
          </a:bodyPr>
          <a:lstStyle/>
          <a:p>
            <a:r>
              <a:rPr lang="vi-VN" sz="2000" b="1" cap="none" spc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Nguyên </a:t>
            </a:r>
            <a:r>
              <a:rPr lang="vi-VN" sz="2000" b="1" cap="none" spc="0" err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vi-VN" sz="2000" b="1" cap="none" spc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mới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dựa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trên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đa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phiếu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bầu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gần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nhất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trong không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 </a:t>
            </a:r>
            <a:r>
              <a:rPr lang="vi-VN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đặc</a:t>
            </a:r>
            <a:r>
              <a:rPr lang="vi-VN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trưng.</a:t>
            </a:r>
            <a:endParaRPr lang="en-US" sz="1900" cap="none" spc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900" cap="none" spc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khoảng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cách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(Euclidean).</a:t>
            </a:r>
          </a:p>
          <a:p>
            <a:endParaRPr lang="en-US" sz="1900" cap="none" spc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Sắp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xếp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 K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láng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giềng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gần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nhất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900" cap="none" spc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Gán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nhãn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phổ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biến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nhất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900" cap="none" spc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cần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giai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đoạn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huấn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cap="none" spc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luyện</a:t>
            </a:r>
            <a:r>
              <a:rPr lang="en-US" sz="1900" cap="none" spc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(Lazy Learning).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7E1715-DE6C-4E84-9B0F-3679E6DF4FFD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31472A-05F9-446D-B101-A6E342EF0DD0}"/>
              </a:ext>
            </a:extLst>
          </p:cNvPr>
          <p:cNvSpPr/>
          <p:nvPr/>
        </p:nvSpPr>
        <p:spPr>
          <a:xfrm>
            <a:off x="6933950" y="1554480"/>
            <a:ext cx="5084128" cy="3200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0AB27F-686E-4511-91A1-ABC4A4A8ED95}"/>
              </a:ext>
            </a:extLst>
          </p:cNvPr>
          <p:cNvSpPr/>
          <p:nvPr/>
        </p:nvSpPr>
        <p:spPr>
          <a:xfrm>
            <a:off x="7192915" y="1775388"/>
            <a:ext cx="4566198" cy="262003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CA4EEB-B71B-4152-AC98-805568B1B04B}"/>
              </a:ext>
            </a:extLst>
          </p:cNvPr>
          <p:cNvCxnSpPr>
            <a:cxnSpLocks/>
          </p:cNvCxnSpPr>
          <p:nvPr/>
        </p:nvCxnSpPr>
        <p:spPr>
          <a:xfrm flipV="1">
            <a:off x="7618412" y="2419350"/>
            <a:ext cx="0" cy="175260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9606C5-B906-4717-85E5-2355E96D5458}"/>
              </a:ext>
            </a:extLst>
          </p:cNvPr>
          <p:cNvCxnSpPr>
            <a:cxnSpLocks/>
          </p:cNvCxnSpPr>
          <p:nvPr/>
        </p:nvCxnSpPr>
        <p:spPr>
          <a:xfrm>
            <a:off x="7389812" y="3962400"/>
            <a:ext cx="3733800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A325A9B-A8A5-4EA6-B674-B036E11C11CE}"/>
              </a:ext>
            </a:extLst>
          </p:cNvPr>
          <p:cNvSpPr/>
          <p:nvPr/>
        </p:nvSpPr>
        <p:spPr>
          <a:xfrm>
            <a:off x="7849235" y="2539717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97A2EA-D34D-4D59-B185-5BD13CA7A582}"/>
              </a:ext>
            </a:extLst>
          </p:cNvPr>
          <p:cNvSpPr/>
          <p:nvPr/>
        </p:nvSpPr>
        <p:spPr>
          <a:xfrm>
            <a:off x="7990204" y="2266960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11CDFCE-A7E2-4D93-82E8-AB79C6876A37}"/>
              </a:ext>
            </a:extLst>
          </p:cNvPr>
          <p:cNvSpPr/>
          <p:nvPr/>
        </p:nvSpPr>
        <p:spPr>
          <a:xfrm>
            <a:off x="8118199" y="3037679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8BF9A39-0B27-4B85-AFC5-C8BA1CF4BD02}"/>
              </a:ext>
            </a:extLst>
          </p:cNvPr>
          <p:cNvSpPr/>
          <p:nvPr/>
        </p:nvSpPr>
        <p:spPr>
          <a:xfrm>
            <a:off x="7837203" y="2949525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6CDCA3D-0EF1-4B54-8DE8-3525F014B3D5}"/>
              </a:ext>
            </a:extLst>
          </p:cNvPr>
          <p:cNvSpPr/>
          <p:nvPr/>
        </p:nvSpPr>
        <p:spPr>
          <a:xfrm>
            <a:off x="8167689" y="3423215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BF0615B-7808-4788-82A5-BA2236AE52E2}"/>
              </a:ext>
            </a:extLst>
          </p:cNvPr>
          <p:cNvSpPr/>
          <p:nvPr/>
        </p:nvSpPr>
        <p:spPr>
          <a:xfrm>
            <a:off x="8513837" y="2711386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811751-F5AD-48E6-BAB7-8A179A85E25D}"/>
              </a:ext>
            </a:extLst>
          </p:cNvPr>
          <p:cNvSpPr/>
          <p:nvPr/>
        </p:nvSpPr>
        <p:spPr>
          <a:xfrm>
            <a:off x="8891906" y="3230875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C49C1E-2780-4810-A442-6DD9560176D7}"/>
              </a:ext>
            </a:extLst>
          </p:cNvPr>
          <p:cNvSpPr/>
          <p:nvPr/>
        </p:nvSpPr>
        <p:spPr>
          <a:xfrm>
            <a:off x="11112817" y="2089039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EBC5C4B-1029-4E24-9CF1-04FFA58AB441}"/>
              </a:ext>
            </a:extLst>
          </p:cNvPr>
          <p:cNvSpPr/>
          <p:nvPr/>
        </p:nvSpPr>
        <p:spPr>
          <a:xfrm>
            <a:off x="10658237" y="3194696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593F03-B69F-4F4B-98BA-313C729717C8}"/>
              </a:ext>
            </a:extLst>
          </p:cNvPr>
          <p:cNvSpPr/>
          <p:nvPr/>
        </p:nvSpPr>
        <p:spPr>
          <a:xfrm>
            <a:off x="10243581" y="3154680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ED1BCD-1896-411F-8D64-EE8BCB349378}"/>
              </a:ext>
            </a:extLst>
          </p:cNvPr>
          <p:cNvSpPr/>
          <p:nvPr/>
        </p:nvSpPr>
        <p:spPr>
          <a:xfrm>
            <a:off x="9371012" y="3335694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0AC75EA-8287-48CE-985E-5F6F79D7B55A}"/>
              </a:ext>
            </a:extLst>
          </p:cNvPr>
          <p:cNvSpPr/>
          <p:nvPr/>
        </p:nvSpPr>
        <p:spPr>
          <a:xfrm>
            <a:off x="11112106" y="2419350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F30858-D237-4703-9E33-2BF274A3B7A5}"/>
              </a:ext>
            </a:extLst>
          </p:cNvPr>
          <p:cNvSpPr/>
          <p:nvPr/>
        </p:nvSpPr>
        <p:spPr>
          <a:xfrm flipH="1">
            <a:off x="9722167" y="3349000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1AE009D-4A5D-4F83-82C7-228EE379A1C0}"/>
              </a:ext>
            </a:extLst>
          </p:cNvPr>
          <p:cNvSpPr/>
          <p:nvPr/>
        </p:nvSpPr>
        <p:spPr>
          <a:xfrm>
            <a:off x="10573228" y="3558540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AC20D32-EA8F-4E33-ABF1-62BD33644E71}"/>
              </a:ext>
            </a:extLst>
          </p:cNvPr>
          <p:cNvSpPr/>
          <p:nvPr/>
        </p:nvSpPr>
        <p:spPr>
          <a:xfrm>
            <a:off x="10897876" y="3526164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B6D522E-DB07-42DC-AB59-B17CCBF96A99}"/>
              </a:ext>
            </a:extLst>
          </p:cNvPr>
          <p:cNvSpPr/>
          <p:nvPr/>
        </p:nvSpPr>
        <p:spPr>
          <a:xfrm>
            <a:off x="10615157" y="2780643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1E4228-F5E3-4E87-8ADB-2961E177B36B}"/>
              </a:ext>
            </a:extLst>
          </p:cNvPr>
          <p:cNvSpPr/>
          <p:nvPr/>
        </p:nvSpPr>
        <p:spPr>
          <a:xfrm>
            <a:off x="9750287" y="2729099"/>
            <a:ext cx="152400" cy="1523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7C19816-1CCA-4188-945D-0A2893BF9A0F}"/>
              </a:ext>
            </a:extLst>
          </p:cNvPr>
          <p:cNvSpPr/>
          <p:nvPr/>
        </p:nvSpPr>
        <p:spPr>
          <a:xfrm>
            <a:off x="9130809" y="2514600"/>
            <a:ext cx="152400" cy="1523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CFBC8B-466C-4517-ADEE-4A1F303D277C}"/>
              </a:ext>
            </a:extLst>
          </p:cNvPr>
          <p:cNvSpPr/>
          <p:nvPr/>
        </p:nvSpPr>
        <p:spPr>
          <a:xfrm>
            <a:off x="9320880" y="2888302"/>
            <a:ext cx="225572" cy="225572"/>
          </a:xfrm>
          <a:prstGeom prst="rect">
            <a:avLst/>
          </a:prstGeom>
          <a:solidFill>
            <a:schemeClr val="tx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EF84CF7-BB5C-4B88-874E-985FCD9CF550}"/>
              </a:ext>
            </a:extLst>
          </p:cNvPr>
          <p:cNvSpPr/>
          <p:nvPr/>
        </p:nvSpPr>
        <p:spPr>
          <a:xfrm>
            <a:off x="8763635" y="2437007"/>
            <a:ext cx="1296793" cy="1296793"/>
          </a:xfrm>
          <a:prstGeom prst="ellipse">
            <a:avLst/>
          </a:prstGeom>
          <a:noFill/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7D2B552-583C-4FA9-849C-630B39907029}"/>
              </a:ext>
            </a:extLst>
          </p:cNvPr>
          <p:cNvCxnSpPr>
            <a:cxnSpLocks/>
          </p:cNvCxnSpPr>
          <p:nvPr/>
        </p:nvCxnSpPr>
        <p:spPr>
          <a:xfrm>
            <a:off x="9283209" y="2727964"/>
            <a:ext cx="87803" cy="11923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5B408A0-0EEC-4C97-AFEA-F438AEB5645E}"/>
              </a:ext>
            </a:extLst>
          </p:cNvPr>
          <p:cNvCxnSpPr>
            <a:cxnSpLocks/>
          </p:cNvCxnSpPr>
          <p:nvPr/>
        </p:nvCxnSpPr>
        <p:spPr>
          <a:xfrm flipH="1">
            <a:off x="9101422" y="3126897"/>
            <a:ext cx="144655" cy="14399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FC1BB32-7D0E-4D58-97DA-F9432E9FF953}"/>
              </a:ext>
            </a:extLst>
          </p:cNvPr>
          <p:cNvCxnSpPr>
            <a:cxnSpLocks/>
          </p:cNvCxnSpPr>
          <p:nvPr/>
        </p:nvCxnSpPr>
        <p:spPr>
          <a:xfrm>
            <a:off x="9425486" y="3136880"/>
            <a:ext cx="1" cy="1587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AA461C2-56AB-4CCC-B0B5-EDD5CA6F2BDC}"/>
              </a:ext>
            </a:extLst>
          </p:cNvPr>
          <p:cNvCxnSpPr/>
          <p:nvPr/>
        </p:nvCxnSpPr>
        <p:spPr>
          <a:xfrm flipV="1">
            <a:off x="9599612" y="2847199"/>
            <a:ext cx="122555" cy="7619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B5F1A97-369D-4A14-A091-9D96967469A2}"/>
              </a:ext>
            </a:extLst>
          </p:cNvPr>
          <p:cNvCxnSpPr/>
          <p:nvPr/>
        </p:nvCxnSpPr>
        <p:spPr>
          <a:xfrm>
            <a:off x="9608639" y="3168980"/>
            <a:ext cx="141648" cy="13809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9ECEB85-97B3-4A36-815E-D4877DBE83BE}"/>
              </a:ext>
            </a:extLst>
          </p:cNvPr>
          <p:cNvSpPr txBox="1"/>
          <p:nvPr/>
        </p:nvSpPr>
        <p:spPr>
          <a:xfrm>
            <a:off x="7252257" y="2634967"/>
            <a:ext cx="400110" cy="75438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- Axis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18F0AD-A919-4F09-8E8E-5E7B43D9B156}"/>
              </a:ext>
            </a:extLst>
          </p:cNvPr>
          <p:cNvSpPr txBox="1"/>
          <p:nvPr/>
        </p:nvSpPr>
        <p:spPr>
          <a:xfrm>
            <a:off x="10396417" y="3965439"/>
            <a:ext cx="64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X - Axis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942987-9239-40CE-A0FE-9ED301F2B6D9}"/>
              </a:ext>
            </a:extLst>
          </p:cNvPr>
          <p:cNvSpPr txBox="1"/>
          <p:nvPr/>
        </p:nvSpPr>
        <p:spPr>
          <a:xfrm>
            <a:off x="8981089" y="3399294"/>
            <a:ext cx="529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K = 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910DFF-0AE9-4346-9AA6-E030DDBEB6C1}"/>
              </a:ext>
            </a:extLst>
          </p:cNvPr>
          <p:cNvSpPr txBox="1"/>
          <p:nvPr/>
        </p:nvSpPr>
        <p:spPr>
          <a:xfrm>
            <a:off x="9323614" y="2868970"/>
            <a:ext cx="152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bg1"/>
                </a:solidFill>
              </a:rPr>
              <a:t>?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5440B6-979A-4E96-9BB8-E4139D8BC772}"/>
              </a:ext>
            </a:extLst>
          </p:cNvPr>
          <p:cNvSpPr txBox="1"/>
          <p:nvPr/>
        </p:nvSpPr>
        <p:spPr>
          <a:xfrm>
            <a:off x="10537576" y="2058553"/>
            <a:ext cx="5403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Class 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CDEEFC-F198-4A6A-933D-037CFCBB26E3}"/>
              </a:ext>
            </a:extLst>
          </p:cNvPr>
          <p:cNvSpPr txBox="1"/>
          <p:nvPr/>
        </p:nvSpPr>
        <p:spPr>
          <a:xfrm>
            <a:off x="10529401" y="2364066"/>
            <a:ext cx="5421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Class 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EF84CF7-BB5C-4B88-874E-985FCD9CF550}"/>
              </a:ext>
            </a:extLst>
          </p:cNvPr>
          <p:cNvSpPr/>
          <p:nvPr/>
        </p:nvSpPr>
        <p:spPr>
          <a:xfrm>
            <a:off x="8382372" y="1967119"/>
            <a:ext cx="2090079" cy="2090079"/>
          </a:xfrm>
          <a:prstGeom prst="ellipse">
            <a:avLst/>
          </a:prstGeom>
          <a:noFill/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942987-9239-40CE-A0FE-9ED301F2B6D9}"/>
              </a:ext>
            </a:extLst>
          </p:cNvPr>
          <p:cNvSpPr txBox="1"/>
          <p:nvPr/>
        </p:nvSpPr>
        <p:spPr>
          <a:xfrm>
            <a:off x="8792209" y="3693616"/>
            <a:ext cx="529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K = 7</a:t>
            </a:r>
          </a:p>
        </p:txBody>
      </p:sp>
    </p:spTree>
    <p:extLst>
      <p:ext uri="{BB962C8B-B14F-4D97-AF65-F5344CB8AC3E}">
        <p14:creationId xmlns:p14="http://schemas.microsoft.com/office/powerpoint/2010/main" val="1185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57" grpId="0"/>
      <p:bldP spid="59" grpId="0"/>
      <p:bldP spid="60" grpId="0"/>
      <p:bldP spid="63" grpId="0"/>
      <p:bldP spid="66" grpId="0"/>
      <p:bldP spid="67" grpId="0"/>
      <p:bldP spid="41" grpId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46212" y="512265"/>
            <a:ext cx="3886200" cy="78313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30F047"/>
                </a:solidFill>
                <a:latin typeface="Bahnschrift SemiBold SemiConden" panose="020B0502040204020203" pitchFamily="34" charset="0"/>
              </a:rPr>
              <a:t>DỮ LIỆU MNIST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522412" y="1466850"/>
            <a:ext cx="6629400" cy="3810000"/>
          </a:xfrm>
        </p:spPr>
        <p:txBody>
          <a:bodyPr>
            <a:normAutofit/>
          </a:bodyPr>
          <a:lstStyle/>
          <a:p>
            <a:r>
              <a:rPr lang="en-US" cap="none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trong thị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70k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grayscale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0-9.</a:t>
            </a:r>
          </a:p>
          <a:p>
            <a:endParaRPr lang="en-US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vi-VN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vi-VN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</a:t>
            </a:r>
            <a:r>
              <a:rPr lang="vi-VN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28 x 28 </a:t>
            </a:r>
            <a:r>
              <a:rPr lang="vi-VN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pixels</a:t>
            </a:r>
            <a:r>
              <a:rPr lang="vi-VN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cap="none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54k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14k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cap="non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tra.</a:t>
            </a:r>
          </a:p>
          <a:p>
            <a:endParaRPr lang="en-US" cap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EA0B23-7529-4AD8-8036-1206433C6A2C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3" name="Graphic 2" descr="Bar chart with solid fill">
            <a:extLst>
              <a:ext uri="{FF2B5EF4-FFF2-40B4-BE49-F238E27FC236}">
                <a16:creationId xmlns:a16="http://schemas.microsoft.com/office/drawing/2014/main" id="{A2E73A3C-9FDA-442E-81FC-84C9C88C06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166" y="2590800"/>
            <a:ext cx="505046" cy="441915"/>
          </a:xfrm>
          <a:prstGeom prst="rect">
            <a:avLst/>
          </a:prstGeom>
        </p:spPr>
      </p:pic>
      <p:pic>
        <p:nvPicPr>
          <p:cNvPr id="8" name="Graphic 7" descr="Body builder with solid fill">
            <a:extLst>
              <a:ext uri="{FF2B5EF4-FFF2-40B4-BE49-F238E27FC236}">
                <a16:creationId xmlns:a16="http://schemas.microsoft.com/office/drawing/2014/main" id="{F524DD86-1B83-4209-9D65-14320A81C1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073" y="4100021"/>
            <a:ext cx="505046" cy="441915"/>
          </a:xfrm>
          <a:prstGeom prst="rect">
            <a:avLst/>
          </a:prstGeom>
        </p:spPr>
      </p:pic>
      <p:pic>
        <p:nvPicPr>
          <p:cNvPr id="10" name="Graphic 9" descr="Camera with solid fill">
            <a:extLst>
              <a:ext uri="{FF2B5EF4-FFF2-40B4-BE49-F238E27FC236}">
                <a16:creationId xmlns:a16="http://schemas.microsoft.com/office/drawing/2014/main" id="{0E273DDD-B3F3-421B-9E33-A09872A397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939" y="3378236"/>
            <a:ext cx="455945" cy="398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048808-CD86-4AE4-9212-89991ACC5A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679" y="1295400"/>
            <a:ext cx="3581400" cy="381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1CEB9BE-4E19-409A-A3AD-D8E5070A26B7}"/>
              </a:ext>
            </a:extLst>
          </p:cNvPr>
          <p:cNvSpPr/>
          <p:nvPr/>
        </p:nvSpPr>
        <p:spPr>
          <a:xfrm>
            <a:off x="7999412" y="1066800"/>
            <a:ext cx="4038600" cy="4324350"/>
          </a:xfrm>
          <a:prstGeom prst="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78965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98612" y="2031851"/>
            <a:ext cx="8279235" cy="2285999"/>
          </a:xfrm>
        </p:spPr>
        <p:txBody>
          <a:bodyPr/>
          <a:lstStyle/>
          <a:p>
            <a:br>
              <a:rPr lang="en-US"/>
            </a:br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26E637A-8BD5-4A9B-837A-FD4F22E7C011}"/>
              </a:ext>
            </a:extLst>
          </p:cNvPr>
          <p:cNvSpPr txBox="1">
            <a:spLocks/>
          </p:cNvSpPr>
          <p:nvPr/>
        </p:nvSpPr>
        <p:spPr>
          <a:xfrm>
            <a:off x="1370012" y="329901"/>
            <a:ext cx="8001000" cy="990601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30F047"/>
                </a:solidFill>
                <a:latin typeface="Bahnschrift SemiBold SemiConden" panose="020B0502040204020203" pitchFamily="34" charset="0"/>
              </a:rPr>
              <a:t>QUY TRÌNH THỰC HIỆN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C6E28-31EB-41BA-B834-04D924E7EAD6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40A899-9BF3-4407-ADDE-A9D3355FA67B}"/>
              </a:ext>
            </a:extLst>
          </p:cNvPr>
          <p:cNvCxnSpPr>
            <a:cxnSpLocks/>
          </p:cNvCxnSpPr>
          <p:nvPr/>
        </p:nvCxnSpPr>
        <p:spPr>
          <a:xfrm>
            <a:off x="1688094" y="3284219"/>
            <a:ext cx="881263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99233DA-E7E7-4E74-BCD8-50DD5669E589}"/>
              </a:ext>
            </a:extLst>
          </p:cNvPr>
          <p:cNvSpPr/>
          <p:nvPr/>
        </p:nvSpPr>
        <p:spPr>
          <a:xfrm>
            <a:off x="2692246" y="3036215"/>
            <a:ext cx="514020" cy="514020"/>
          </a:xfrm>
          <a:prstGeom prst="ellipse">
            <a:avLst/>
          </a:prstGeom>
          <a:solidFill>
            <a:srgbClr val="30F0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722B09-B5E9-4625-A95A-970B831E0700}"/>
              </a:ext>
            </a:extLst>
          </p:cNvPr>
          <p:cNvSpPr/>
          <p:nvPr/>
        </p:nvSpPr>
        <p:spPr>
          <a:xfrm>
            <a:off x="4701860" y="3002734"/>
            <a:ext cx="514020" cy="514020"/>
          </a:xfrm>
          <a:prstGeom prst="ellipse">
            <a:avLst/>
          </a:prstGeom>
          <a:solidFill>
            <a:srgbClr val="30F0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686EB5-FE82-4C9A-A2C7-CB1B69CB08AF}"/>
              </a:ext>
            </a:extLst>
          </p:cNvPr>
          <p:cNvSpPr/>
          <p:nvPr/>
        </p:nvSpPr>
        <p:spPr>
          <a:xfrm>
            <a:off x="6752396" y="3002734"/>
            <a:ext cx="514020" cy="514020"/>
          </a:xfrm>
          <a:prstGeom prst="ellipse">
            <a:avLst/>
          </a:prstGeom>
          <a:solidFill>
            <a:srgbClr val="30F0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D7BB43-2C65-4781-B177-0D024AB9D1AE}"/>
              </a:ext>
            </a:extLst>
          </p:cNvPr>
          <p:cNvSpPr/>
          <p:nvPr/>
        </p:nvSpPr>
        <p:spPr>
          <a:xfrm>
            <a:off x="8456612" y="3002734"/>
            <a:ext cx="514020" cy="514020"/>
          </a:xfrm>
          <a:prstGeom prst="ellipse">
            <a:avLst/>
          </a:prstGeom>
          <a:solidFill>
            <a:srgbClr val="30F0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BB87B-0EA0-4944-90B5-0D225C70CB22}"/>
              </a:ext>
            </a:extLst>
          </p:cNvPr>
          <p:cNvSpPr txBox="1"/>
          <p:nvPr/>
        </p:nvSpPr>
        <p:spPr>
          <a:xfrm>
            <a:off x="2172508" y="3572784"/>
            <a:ext cx="1553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err="1">
                <a:solidFill>
                  <a:srgbClr val="00CCFF"/>
                </a:solidFill>
              </a:rPr>
              <a:t>Nạp</a:t>
            </a:r>
            <a:r>
              <a:rPr lang="en-US" sz="1600" b="1">
                <a:solidFill>
                  <a:srgbClr val="00CCFF"/>
                </a:solidFill>
              </a:rPr>
              <a:t> </a:t>
            </a:r>
            <a:r>
              <a:rPr lang="en-US" sz="1600" b="1" err="1">
                <a:solidFill>
                  <a:srgbClr val="00CCFF"/>
                </a:solidFill>
              </a:rPr>
              <a:t>Dữ</a:t>
            </a:r>
            <a:r>
              <a:rPr lang="en-US" sz="1600" b="1">
                <a:solidFill>
                  <a:srgbClr val="00CCFF"/>
                </a:solidFill>
              </a:rPr>
              <a:t> </a:t>
            </a:r>
            <a:r>
              <a:rPr lang="en-US" sz="1600" b="1" err="1">
                <a:solidFill>
                  <a:srgbClr val="00CCFF"/>
                </a:solidFill>
              </a:rPr>
              <a:t>Liệu</a:t>
            </a:r>
            <a:endParaRPr lang="en-US" sz="1600" b="1">
              <a:solidFill>
                <a:srgbClr val="00CCFF"/>
              </a:solidFill>
            </a:endParaRPr>
          </a:p>
          <a:p>
            <a:pPr algn="ctr"/>
            <a:r>
              <a:rPr lang="en-US" sz="1600"/>
              <a:t>Load MNIST </a:t>
            </a:r>
            <a:br>
              <a:rPr lang="en-US" sz="1600"/>
            </a:br>
            <a:r>
              <a:rPr lang="en-US" sz="1600" err="1"/>
              <a:t>từ</a:t>
            </a:r>
            <a:r>
              <a:rPr lang="en-US" sz="1600"/>
              <a:t> </a:t>
            </a:r>
            <a:r>
              <a:rPr lang="en-US" sz="1600" err="1"/>
              <a:t>Skicit</a:t>
            </a:r>
            <a:r>
              <a:rPr lang="en-US" sz="1600"/>
              <a:t> - learn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5BA629-53FA-4ECC-B936-3A7E90DA2F6D}"/>
              </a:ext>
            </a:extLst>
          </p:cNvPr>
          <p:cNvSpPr txBox="1"/>
          <p:nvPr/>
        </p:nvSpPr>
        <p:spPr>
          <a:xfrm>
            <a:off x="4115131" y="2066259"/>
            <a:ext cx="16874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err="1">
                <a:solidFill>
                  <a:srgbClr val="00CCFF"/>
                </a:solidFill>
              </a:rPr>
              <a:t>Tiền</a:t>
            </a:r>
            <a:r>
              <a:rPr lang="en-US" sz="1600" b="1">
                <a:solidFill>
                  <a:srgbClr val="00CCFF"/>
                </a:solidFill>
              </a:rPr>
              <a:t> </a:t>
            </a:r>
            <a:r>
              <a:rPr lang="en-US" sz="1600" b="1" err="1">
                <a:solidFill>
                  <a:srgbClr val="00CCFF"/>
                </a:solidFill>
              </a:rPr>
              <a:t>Xử</a:t>
            </a:r>
            <a:r>
              <a:rPr lang="en-US" sz="1600" b="1">
                <a:solidFill>
                  <a:srgbClr val="00CCFF"/>
                </a:solidFill>
              </a:rPr>
              <a:t> </a:t>
            </a:r>
            <a:r>
              <a:rPr lang="en-US" sz="1600" b="1" err="1">
                <a:solidFill>
                  <a:srgbClr val="00CCFF"/>
                </a:solidFill>
              </a:rPr>
              <a:t>Lý</a:t>
            </a:r>
            <a:endParaRPr lang="en-US" sz="1600" b="1">
              <a:solidFill>
                <a:srgbClr val="00CCFF"/>
              </a:solidFill>
            </a:endParaRPr>
          </a:p>
          <a:p>
            <a:pPr algn="ctr"/>
            <a:r>
              <a:rPr lang="en-US" sz="1600"/>
              <a:t>Flatten </a:t>
            </a:r>
            <a:r>
              <a:rPr lang="en-US" sz="1600" err="1"/>
              <a:t>ảnh</a:t>
            </a:r>
            <a:r>
              <a:rPr lang="en-US" sz="1600"/>
              <a:t> &amp; Normalization</a:t>
            </a:r>
          </a:p>
          <a:p>
            <a:endParaRPr lang="en-US"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2FFA36-283A-4FD4-B1BC-06A67102B7BA}"/>
              </a:ext>
            </a:extLst>
          </p:cNvPr>
          <p:cNvSpPr txBox="1"/>
          <p:nvPr/>
        </p:nvSpPr>
        <p:spPr>
          <a:xfrm>
            <a:off x="6094412" y="3609555"/>
            <a:ext cx="1838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err="1">
                <a:solidFill>
                  <a:srgbClr val="00CCFF"/>
                </a:solidFill>
              </a:rPr>
              <a:t>Huấn</a:t>
            </a:r>
            <a:r>
              <a:rPr lang="en-US" sz="1600" b="1">
                <a:solidFill>
                  <a:srgbClr val="00CCFF"/>
                </a:solidFill>
              </a:rPr>
              <a:t> </a:t>
            </a:r>
            <a:r>
              <a:rPr lang="en-US" sz="1600" b="1" err="1">
                <a:solidFill>
                  <a:srgbClr val="00CCFF"/>
                </a:solidFill>
              </a:rPr>
              <a:t>Luyện</a:t>
            </a:r>
            <a:endParaRPr lang="en-US" sz="1600" b="1">
              <a:solidFill>
                <a:srgbClr val="00CCFF"/>
              </a:solidFill>
            </a:endParaRPr>
          </a:p>
          <a:p>
            <a:pPr algn="ctr"/>
            <a:r>
              <a:rPr lang="en-US" sz="1600" err="1"/>
              <a:t>Khởi</a:t>
            </a:r>
            <a:r>
              <a:rPr lang="en-US" sz="1600"/>
              <a:t> </a:t>
            </a:r>
            <a:r>
              <a:rPr lang="en-US" sz="1600" err="1"/>
              <a:t>tạo</a:t>
            </a:r>
            <a:r>
              <a:rPr lang="en-US" sz="1600"/>
              <a:t> </a:t>
            </a:r>
            <a:r>
              <a:rPr lang="en-US" sz="1600" err="1"/>
              <a:t>và</a:t>
            </a:r>
            <a:r>
              <a:rPr lang="en-US" sz="1600"/>
              <a:t> fit </a:t>
            </a:r>
            <a:r>
              <a:rPr lang="en-US" sz="1600" err="1"/>
              <a:t>mô</a:t>
            </a:r>
            <a:r>
              <a:rPr lang="en-US" sz="1600"/>
              <a:t> </a:t>
            </a:r>
            <a:r>
              <a:rPr lang="en-US" sz="1600" err="1"/>
              <a:t>hình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935CC-2F61-44E5-8673-0306BA18E6EB}"/>
              </a:ext>
            </a:extLst>
          </p:cNvPr>
          <p:cNvSpPr txBox="1"/>
          <p:nvPr/>
        </p:nvSpPr>
        <p:spPr>
          <a:xfrm>
            <a:off x="7853030" y="2001835"/>
            <a:ext cx="17211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err="1">
                <a:solidFill>
                  <a:srgbClr val="00CCFF"/>
                </a:solidFill>
              </a:rPr>
              <a:t>Đánh</a:t>
            </a:r>
            <a:r>
              <a:rPr lang="en-US" sz="1600" b="1">
                <a:solidFill>
                  <a:srgbClr val="00CCFF"/>
                </a:solidFill>
              </a:rPr>
              <a:t> </a:t>
            </a:r>
            <a:r>
              <a:rPr lang="en-US" sz="1600" b="1" err="1">
                <a:solidFill>
                  <a:srgbClr val="00CCFF"/>
                </a:solidFill>
              </a:rPr>
              <a:t>Giá</a:t>
            </a:r>
            <a:endParaRPr lang="en-US" sz="1600" b="1">
              <a:solidFill>
                <a:srgbClr val="00CCFF"/>
              </a:solidFill>
            </a:endParaRPr>
          </a:p>
          <a:p>
            <a:pPr algn="ctr"/>
            <a:r>
              <a:rPr lang="en-US" sz="1600" err="1"/>
              <a:t>Tính</a:t>
            </a:r>
            <a:r>
              <a:rPr lang="en-US" sz="1600"/>
              <a:t> Accuracy &amp; Confusion Matrix</a:t>
            </a:r>
          </a:p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92152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51699" y="2058688"/>
            <a:ext cx="4316835" cy="677789"/>
          </a:xfrm>
        </p:spPr>
        <p:txBody>
          <a:bodyPr>
            <a:normAutofit/>
          </a:bodyPr>
          <a:lstStyle/>
          <a:p>
            <a:r>
              <a:rPr lang="vi-VN" sz="2000" err="1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vi-VN" sz="2000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vi-VN" sz="2000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vi-VN" sz="2000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thước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78ED956-EBE1-44DE-9EC1-B16636E24CFD}"/>
              </a:ext>
            </a:extLst>
          </p:cNvPr>
          <p:cNvSpPr txBox="1">
            <a:spLocks/>
          </p:cNvSpPr>
          <p:nvPr/>
        </p:nvSpPr>
        <p:spPr>
          <a:xfrm>
            <a:off x="1370012" y="329901"/>
            <a:ext cx="8001000" cy="990601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30F047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TIỀN XỬ LÝ DỮ LIỆU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F119C3-1C0C-4E5A-A004-264525EFA3C9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61153-E157-4C06-AAA3-07B70CCD9985}"/>
              </a:ext>
            </a:extLst>
          </p:cNvPr>
          <p:cNvSpPr txBox="1"/>
          <p:nvPr/>
        </p:nvSpPr>
        <p:spPr>
          <a:xfrm>
            <a:off x="6617524" y="2108001"/>
            <a:ext cx="441960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err="1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>
                <a:solidFill>
                  <a:srgbClr val="30F0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(Scaling)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[0, 255] về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khoảng [0, 1]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cách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chính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nhanh hơn.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3CF7AA-B24E-4116-929C-EFD69369DA71}"/>
                  </a:ext>
                </a:extLst>
              </p:cNvPr>
              <p:cNvSpPr txBox="1"/>
              <p:nvPr/>
            </p:nvSpPr>
            <p:spPr>
              <a:xfrm>
                <a:off x="7085012" y="3969471"/>
                <a:ext cx="2667000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cap="none" smtClean="0">
                              <a:solidFill>
                                <a:srgbClr val="30F0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cap="none" smtClean="0">
                              <a:solidFill>
                                <a:srgbClr val="30F047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b="0" i="0" cap="none" smtClean="0">
                              <a:solidFill>
                                <a:srgbClr val="30F047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0" cap="none" smtClean="0">
                          <a:solidFill>
                            <a:srgbClr val="30F04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cap="none" smtClean="0">
                              <a:solidFill>
                                <a:srgbClr val="30F0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 cap="none" smtClean="0">
                              <a:solidFill>
                                <a:srgbClr val="30F047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num>
                        <m:den>
                          <m:r>
                            <a:rPr lang="en-US" sz="2800" b="0" i="0" cap="none" smtClean="0">
                              <a:solidFill>
                                <a:srgbClr val="30F047"/>
                              </a:solidFill>
                              <a:latin typeface="Cambria Math" panose="02040503050406030204" pitchFamily="18" charset="0"/>
                            </a:rPr>
                            <m:t>255</m:t>
                          </m:r>
                        </m:den>
                      </m:f>
                    </m:oMath>
                  </m:oMathPara>
                </a14:m>
                <a:endParaRPr lang="en-US" sz="2800" cap="none">
                  <a:solidFill>
                    <a:srgbClr val="30F047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3CF7AA-B24E-4116-929C-EFD69369D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012" y="3969471"/>
                <a:ext cx="2667000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raphic 12" descr="Tools with solid fill">
            <a:extLst>
              <a:ext uri="{FF2B5EF4-FFF2-40B4-BE49-F238E27FC236}">
                <a16:creationId xmlns:a16="http://schemas.microsoft.com/office/drawing/2014/main" id="{49124F23-9EE2-4FC8-8B41-D5774F6357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3812" y="1965848"/>
            <a:ext cx="614977" cy="614977"/>
          </a:xfrm>
          <a:prstGeom prst="rect">
            <a:avLst/>
          </a:prstGeom>
        </p:spPr>
      </p:pic>
      <p:pic>
        <p:nvPicPr>
          <p:cNvPr id="15" name="Graphic 14" descr="Arrow circle with solid fill">
            <a:extLst>
              <a:ext uri="{FF2B5EF4-FFF2-40B4-BE49-F238E27FC236}">
                <a16:creationId xmlns:a16="http://schemas.microsoft.com/office/drawing/2014/main" id="{AE131012-188F-4F91-AB40-0F4691CCEBB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8388" y="1854237"/>
            <a:ext cx="838200" cy="838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DE803D-9AD0-4781-8BE5-FD734AAFB632}"/>
              </a:ext>
            </a:extLst>
          </p:cNvPr>
          <p:cNvSpPr txBox="1"/>
          <p:nvPr/>
        </p:nvSpPr>
        <p:spPr>
          <a:xfrm>
            <a:off x="949892" y="2613392"/>
            <a:ext cx="4724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Khi dùng </a:t>
            </a:r>
            <a:r>
              <a:rPr lang="vi-VN" sz="2000" b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fetch_openml</a:t>
            </a:r>
            <a:r>
              <a:rPr lang="en-US" sz="2000" b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('mnist_784'): Thư viện này mặc định trả về dữ liệu X ở dạng một </a:t>
            </a:r>
            <a:r>
              <a:rPr lang="vi-VN" sz="2000" b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hoặc </a:t>
            </a:r>
            <a:r>
              <a:rPr lang="vi-VN" sz="2000" b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mảng đã được làm phẳng sẵn thành vector 784 chiều (28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28 = 784).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40942-443E-4FA5-9F82-0DD6D12BD1B1}"/>
              </a:ext>
            </a:extLst>
          </p:cNvPr>
          <p:cNvSpPr txBox="1"/>
          <p:nvPr/>
        </p:nvSpPr>
        <p:spPr>
          <a:xfrm>
            <a:off x="760412" y="442998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>
                <a:solidFill>
                  <a:srgbClr val="30F04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sklearn.datasets </a:t>
            </a:r>
            <a:r>
              <a:rPr lang="en-US" sz="1800" b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800" b="1">
                <a:solidFill>
                  <a:srgbClr val="30F04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fetch_openml</a:t>
            </a:r>
          </a:p>
        </p:txBody>
      </p:sp>
    </p:spTree>
    <p:extLst>
      <p:ext uri="{BB962C8B-B14F-4D97-AF65-F5344CB8AC3E}">
        <p14:creationId xmlns:p14="http://schemas.microsoft.com/office/powerpoint/2010/main" val="17664114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94526" y="239516"/>
            <a:ext cx="9599772" cy="1096963"/>
          </a:xfrm>
        </p:spPr>
        <p:txBody>
          <a:bodyPr/>
          <a:lstStyle/>
          <a:p>
            <a:r>
              <a:rPr lang="en-US">
                <a:solidFill>
                  <a:srgbClr val="30F047"/>
                </a:solidFill>
              </a:rPr>
              <a:t>XÂY DỰNG MÔ HÌNH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D219A-5471-42F9-A99D-03712FC9ABCB}"/>
              </a:ext>
            </a:extLst>
          </p:cNvPr>
          <p:cNvSpPr/>
          <p:nvPr/>
        </p:nvSpPr>
        <p:spPr>
          <a:xfrm>
            <a:off x="989013" y="2971800"/>
            <a:ext cx="3048000" cy="3124200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b="1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Khởi</a:t>
            </a:r>
            <a:r>
              <a:rPr lang="en-US" sz="2100" b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tạo</a:t>
            </a:r>
          </a:p>
          <a:p>
            <a:endParaRPr lang="en-US" sz="2100" b="1">
              <a:solidFill>
                <a:srgbClr val="30F0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KNeighborsClassifier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tham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n_neighbors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và metric='minkowski’ (Euclidean).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DB4735-D225-45DA-B033-CAC17A943C6B}"/>
              </a:ext>
            </a:extLst>
          </p:cNvPr>
          <p:cNvSpPr/>
          <p:nvPr/>
        </p:nvSpPr>
        <p:spPr>
          <a:xfrm>
            <a:off x="4265612" y="2971800"/>
            <a:ext cx="3505200" cy="3124200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100" b="1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Huấn</a:t>
            </a:r>
            <a:r>
              <a:rPr lang="vi-VN" sz="2100" b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luyện</a:t>
            </a:r>
            <a:endParaRPr lang="en-US" sz="2100" b="1">
              <a:solidFill>
                <a:srgbClr val="30F0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lưu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trữ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toàn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bộ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tập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huấn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luyện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làm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cơ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sở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sánh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khoảng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cách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khi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đoán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100">
              <a:solidFill>
                <a:srgbClr val="30F0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A31A51-6FF2-4991-B346-B4EA7BCC5C94}"/>
              </a:ext>
            </a:extLst>
          </p:cNvPr>
          <p:cNvSpPr/>
          <p:nvPr/>
        </p:nvSpPr>
        <p:spPr>
          <a:xfrm>
            <a:off x="7999412" y="2971800"/>
            <a:ext cx="3124200" cy="3117028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100" b="1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Tối</a:t>
            </a:r>
            <a:r>
              <a:rPr lang="vi-VN" sz="2100" b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ưu</a:t>
            </a:r>
            <a:endParaRPr lang="en-US" sz="2100" b="1">
              <a:solidFill>
                <a:srgbClr val="30F0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Thử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nghiệm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trị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khác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nhau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để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tìm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 cấu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 cho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xác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cao</a:t>
            </a:r>
            <a:r>
              <a:rPr lang="en-US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nhất trên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tập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100" err="1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  <a:r>
              <a:rPr lang="vi-VN" sz="2100">
                <a:solidFill>
                  <a:srgbClr val="30F0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100">
              <a:solidFill>
                <a:srgbClr val="30F0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FFA74B-F2D4-4858-8BA8-379DFE6FE078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3" name="Graphic 2" descr="Lightbulb and gear with solid fill">
            <a:extLst>
              <a:ext uri="{FF2B5EF4-FFF2-40B4-BE49-F238E27FC236}">
                <a16:creationId xmlns:a16="http://schemas.microsoft.com/office/drawing/2014/main" id="{4E0FF91B-21E3-4A5E-8E42-96CE084BB0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013" y="2967000"/>
            <a:ext cx="462000" cy="462000"/>
          </a:xfrm>
          <a:prstGeom prst="rect">
            <a:avLst/>
          </a:prstGeom>
        </p:spPr>
      </p:pic>
      <p:pic>
        <p:nvPicPr>
          <p:cNvPr id="6" name="Graphic 5" descr="Flask with solid fill">
            <a:extLst>
              <a:ext uri="{FF2B5EF4-FFF2-40B4-BE49-F238E27FC236}">
                <a16:creationId xmlns:a16="http://schemas.microsoft.com/office/drawing/2014/main" id="{2D027A77-F489-4E55-B198-80942BC2A4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5612" y="2967000"/>
            <a:ext cx="462000" cy="462000"/>
          </a:xfrm>
          <a:prstGeom prst="rect">
            <a:avLst/>
          </a:prstGeom>
        </p:spPr>
      </p:pic>
      <p:pic>
        <p:nvPicPr>
          <p:cNvPr id="14" name="Graphic 13" descr="Send with solid fill">
            <a:extLst>
              <a:ext uri="{FF2B5EF4-FFF2-40B4-BE49-F238E27FC236}">
                <a16:creationId xmlns:a16="http://schemas.microsoft.com/office/drawing/2014/main" id="{CC92835B-7068-4614-8306-12DA830A42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3682" y="2967000"/>
            <a:ext cx="462000" cy="4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711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BCA093E0-4098-4FC2-9ABB-C250066D40FE}"/>
              </a:ext>
            </a:extLst>
          </p:cNvPr>
          <p:cNvSpPr txBox="1">
            <a:spLocks/>
          </p:cNvSpPr>
          <p:nvPr/>
        </p:nvSpPr>
        <p:spPr>
          <a:xfrm>
            <a:off x="1294526" y="239516"/>
            <a:ext cx="11048286" cy="1096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30F047"/>
                </a:solidFill>
              </a:rPr>
              <a:t>XUẤT RA 5 MẪU NGẪU NHIÊN KHÔNG TRÙNG LẶP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3DF9A2-7D42-4156-8955-0C856CBE1E4C}"/>
              </a:ext>
            </a:extLst>
          </p:cNvPr>
          <p:cNvSpPr/>
          <p:nvPr/>
        </p:nvSpPr>
        <p:spPr>
          <a:xfrm>
            <a:off x="1065212" y="445096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E5050-0321-426C-ABB0-E6AA5D20BA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2" t="27036" r="7175" b="29705"/>
          <a:stretch/>
        </p:blipFill>
        <p:spPr>
          <a:xfrm>
            <a:off x="2360612" y="1565238"/>
            <a:ext cx="7086600" cy="182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E71C05-0A1E-46C8-ACB4-4C8025941804}"/>
              </a:ext>
            </a:extLst>
          </p:cNvPr>
          <p:cNvSpPr txBox="1"/>
          <p:nvPr/>
        </p:nvSpPr>
        <p:spPr>
          <a:xfrm>
            <a:off x="1294526" y="3622797"/>
            <a:ext cx="9635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random_indices = np.</a:t>
            </a:r>
            <a:r>
              <a:rPr lang="en-US" sz="2000" b="1">
                <a:solidFill>
                  <a:srgbClr val="00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random.choice(len(X)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, 5, replace=</a:t>
            </a:r>
            <a:r>
              <a:rPr lang="en-US" sz="2000" b="1">
                <a:solidFill>
                  <a:srgbClr val="00CC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5996D-902A-435D-8D88-A3146D9EA3B9}"/>
              </a:ext>
            </a:extLst>
          </p:cNvPr>
          <p:cNvSpPr txBox="1"/>
          <p:nvPr/>
        </p:nvSpPr>
        <p:spPr>
          <a:xfrm>
            <a:off x="1941512" y="4251666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ym typeface="Wingdings" panose="05000000000000000000" pitchFamily="2" charset="2"/>
              </a:rPr>
              <a:t> </a:t>
            </a:r>
            <a:r>
              <a:rPr lang="en-US" sz="2800"/>
              <a:t>Lấy ra mẫu khách quan: Mỗi lần chạy code sẽ lấy ra 5 mẫu khác nhau.</a:t>
            </a:r>
          </a:p>
        </p:txBody>
      </p:sp>
    </p:spTree>
    <p:extLst>
      <p:ext uri="{BB962C8B-B14F-4D97-AF65-F5344CB8AC3E}">
        <p14:creationId xmlns:p14="http://schemas.microsoft.com/office/powerpoint/2010/main" val="32093506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A0A55F5E-D54C-433B-9D1D-F52339FCD0BD}"/>
              </a:ext>
            </a:extLst>
          </p:cNvPr>
          <p:cNvSpPr txBox="1">
            <a:spLocks/>
          </p:cNvSpPr>
          <p:nvPr/>
        </p:nvSpPr>
        <p:spPr>
          <a:xfrm>
            <a:off x="1217612" y="181486"/>
            <a:ext cx="9599772" cy="1096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>
                <a:solidFill>
                  <a:srgbClr val="30F047"/>
                </a:solidFill>
              </a:rPr>
              <a:t>TỐI ƯU HÓA THAM SỐ 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179256-8137-48C3-A17F-1162295CC003}"/>
              </a:ext>
            </a:extLst>
          </p:cNvPr>
          <p:cNvSpPr/>
          <p:nvPr/>
        </p:nvSpPr>
        <p:spPr>
          <a:xfrm>
            <a:off x="1065212" y="445096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C68BE-017E-4099-A68D-1EA24B6E2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441" y="1278449"/>
            <a:ext cx="9445943" cy="4131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0FBE8E-81E8-4D1D-B0F5-6CB9C94D7F88}"/>
              </a:ext>
            </a:extLst>
          </p:cNvPr>
          <p:cNvSpPr txBox="1"/>
          <p:nvPr/>
        </p:nvSpPr>
        <p:spPr>
          <a:xfrm>
            <a:off x="2018426" y="5617155"/>
            <a:ext cx="8151972" cy="83099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l"/>
            <a:r>
              <a:rPr lang="vi-VN" sz="1600" b="0" i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 </a:t>
            </a:r>
            <a:r>
              <a:rPr lang="vi-VN" sz="1600" b="0" i="1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quả cho thấy tuy K = 1 cho độ chính xác cao nhất, nhưng mô hình có thể nhạy với nhiễu (noise) và dễ bị overfitting. </a:t>
            </a:r>
            <a:r>
              <a:rPr lang="vi-VN" sz="1600" b="1" i="1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 thực tế, các giá trị K lớn hơn (như 3 hoặc 5) thường được cân nhắc để đảm bảo tính ổn định</a:t>
            </a:r>
            <a:r>
              <a:rPr lang="vi-VN" sz="1600" b="0" i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8642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81D0FC7-C2AA-485C-96DD-B6B6E28C67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49316"/>
              </p:ext>
            </p:extLst>
          </p:nvPr>
        </p:nvGraphicFramePr>
        <p:xfrm>
          <a:off x="2778998" y="1752600"/>
          <a:ext cx="647700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12">
            <a:extLst>
              <a:ext uri="{FF2B5EF4-FFF2-40B4-BE49-F238E27FC236}">
                <a16:creationId xmlns:a16="http://schemas.microsoft.com/office/drawing/2014/main" id="{0CEEBBEE-78E8-4921-B70F-23933A88D019}"/>
              </a:ext>
            </a:extLst>
          </p:cNvPr>
          <p:cNvSpPr txBox="1">
            <a:spLocks/>
          </p:cNvSpPr>
          <p:nvPr/>
        </p:nvSpPr>
        <p:spPr>
          <a:xfrm>
            <a:off x="1217612" y="181486"/>
            <a:ext cx="9599772" cy="1096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>
                <a:solidFill>
                  <a:srgbClr val="30F047"/>
                </a:solidFill>
              </a:rPr>
              <a:t>ĐỘ CHÍNH XÁC CỦA KNN (K = 3)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4B0AEA-5DA4-4307-879F-148FC0521CEC}"/>
              </a:ext>
            </a:extLst>
          </p:cNvPr>
          <p:cNvSpPr/>
          <p:nvPr/>
        </p:nvSpPr>
        <p:spPr>
          <a:xfrm>
            <a:off x="1065212" y="445096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2580544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7E732B7-8F29-4E95-AC4B-8F6487655C80}"/>
              </a:ext>
            </a:extLst>
          </p:cNvPr>
          <p:cNvSpPr/>
          <p:nvPr/>
        </p:nvSpPr>
        <p:spPr>
          <a:xfrm>
            <a:off x="1751012" y="2362200"/>
            <a:ext cx="8915398" cy="685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BA2D42F6-61F0-470D-8F95-18D31D3E1131}"/>
              </a:ext>
            </a:extLst>
          </p:cNvPr>
          <p:cNvSpPr txBox="1">
            <a:spLocks/>
          </p:cNvSpPr>
          <p:nvPr/>
        </p:nvSpPr>
        <p:spPr>
          <a:xfrm>
            <a:off x="1294526" y="239516"/>
            <a:ext cx="9599772" cy="1096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>
                <a:solidFill>
                  <a:srgbClr val="30F047"/>
                </a:solidFill>
              </a:rPr>
              <a:t>KẾT QUẢ ĐẠT ĐƯỢC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B5006-3F44-4C99-B27B-029A011217BF}"/>
              </a:ext>
            </a:extLst>
          </p:cNvPr>
          <p:cNvSpPr/>
          <p:nvPr/>
        </p:nvSpPr>
        <p:spPr>
          <a:xfrm>
            <a:off x="1751012" y="2397162"/>
            <a:ext cx="8915400" cy="2438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66478-0AB3-4D07-812E-4BE7DEA433CB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BC2691-876C-4352-9056-1FDE3B8D6EA8}"/>
              </a:ext>
            </a:extLst>
          </p:cNvPr>
          <p:cNvCxnSpPr/>
          <p:nvPr/>
        </p:nvCxnSpPr>
        <p:spPr>
          <a:xfrm>
            <a:off x="1751012" y="3048000"/>
            <a:ext cx="89154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6ACF42-4ED4-4ADA-93E1-7469B0ED79D5}"/>
              </a:ext>
            </a:extLst>
          </p:cNvPr>
          <p:cNvCxnSpPr>
            <a:cxnSpLocks/>
          </p:cNvCxnSpPr>
          <p:nvPr/>
        </p:nvCxnSpPr>
        <p:spPr>
          <a:xfrm>
            <a:off x="9218612" y="3048000"/>
            <a:ext cx="0" cy="1787562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484C98-581E-480B-874D-9D38DF61E419}"/>
              </a:ext>
            </a:extLst>
          </p:cNvPr>
          <p:cNvCxnSpPr/>
          <p:nvPr/>
        </p:nvCxnSpPr>
        <p:spPr>
          <a:xfrm>
            <a:off x="1751012" y="3886200"/>
            <a:ext cx="74676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0786CE-B973-49FB-A4D0-B12FE2E92577}"/>
              </a:ext>
            </a:extLst>
          </p:cNvPr>
          <p:cNvSpPr txBox="1"/>
          <p:nvPr/>
        </p:nvSpPr>
        <p:spPr>
          <a:xfrm>
            <a:off x="1779006" y="2639399"/>
            <a:ext cx="11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30F047"/>
                </a:solidFill>
              </a:rPr>
              <a:t>Chữ Số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8470CD-4121-4003-8507-2B6ED31F1290}"/>
              </a:ext>
            </a:extLst>
          </p:cNvPr>
          <p:cNvSpPr txBox="1"/>
          <p:nvPr/>
        </p:nvSpPr>
        <p:spPr>
          <a:xfrm>
            <a:off x="3303006" y="2625361"/>
            <a:ext cx="11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30F047"/>
                </a:solidFill>
              </a:rPr>
              <a:t>Precision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65A216-6ABC-449C-A9CE-BC355A5F2B77}"/>
              </a:ext>
            </a:extLst>
          </p:cNvPr>
          <p:cNvSpPr txBox="1"/>
          <p:nvPr/>
        </p:nvSpPr>
        <p:spPr>
          <a:xfrm>
            <a:off x="5294312" y="2639399"/>
            <a:ext cx="11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30F047"/>
                </a:solidFill>
              </a:rPr>
              <a:t>Recall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8C2FB-A29E-4B2C-89E0-4C9C91274E67}"/>
              </a:ext>
            </a:extLst>
          </p:cNvPr>
          <p:cNvSpPr txBox="1"/>
          <p:nvPr/>
        </p:nvSpPr>
        <p:spPr>
          <a:xfrm>
            <a:off x="9312080" y="2661187"/>
            <a:ext cx="11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30F047"/>
                </a:solidFill>
              </a:rPr>
              <a:t>Accuracy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CE38CF-08C9-4CC0-AED5-7C64FC52CCE0}"/>
              </a:ext>
            </a:extLst>
          </p:cNvPr>
          <p:cNvSpPr txBox="1"/>
          <p:nvPr/>
        </p:nvSpPr>
        <p:spPr>
          <a:xfrm>
            <a:off x="6818312" y="2678668"/>
            <a:ext cx="11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30F047"/>
                </a:solidFill>
              </a:rPr>
              <a:t>F1 - Score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D15F8E-BB8A-4C12-955C-00ADEF1BFF74}"/>
              </a:ext>
            </a:extLst>
          </p:cNvPr>
          <p:cNvSpPr txBox="1"/>
          <p:nvPr/>
        </p:nvSpPr>
        <p:spPr>
          <a:xfrm>
            <a:off x="1859562" y="3275111"/>
            <a:ext cx="1505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Số 0, 1, 2…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8A163F-E3C2-4014-A3F8-4A1C2E3AEF15}"/>
              </a:ext>
            </a:extLst>
          </p:cNvPr>
          <p:cNvSpPr txBox="1"/>
          <p:nvPr/>
        </p:nvSpPr>
        <p:spPr>
          <a:xfrm>
            <a:off x="3566679" y="4217896"/>
            <a:ext cx="858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97%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5161B7-9405-4716-B6BA-80F897FC48C7}"/>
              </a:ext>
            </a:extLst>
          </p:cNvPr>
          <p:cNvSpPr txBox="1"/>
          <p:nvPr/>
        </p:nvSpPr>
        <p:spPr>
          <a:xfrm>
            <a:off x="1844478" y="4193402"/>
            <a:ext cx="135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FFC000"/>
                </a:solidFill>
              </a:rPr>
              <a:t>Trung bình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9CD340-5614-41C9-800C-619CBC843C9A}"/>
              </a:ext>
            </a:extLst>
          </p:cNvPr>
          <p:cNvSpPr txBox="1"/>
          <p:nvPr/>
        </p:nvSpPr>
        <p:spPr>
          <a:xfrm>
            <a:off x="3394896" y="3269743"/>
            <a:ext cx="1160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97 –  98%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654281-3D44-4CAD-A60F-D09A5210CDA4}"/>
              </a:ext>
            </a:extLst>
          </p:cNvPr>
          <p:cNvSpPr txBox="1"/>
          <p:nvPr/>
        </p:nvSpPr>
        <p:spPr>
          <a:xfrm>
            <a:off x="7126349" y="3269743"/>
            <a:ext cx="644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97%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4D53C6-7A53-49D9-84EF-9755834CF1F9}"/>
              </a:ext>
            </a:extLst>
          </p:cNvPr>
          <p:cNvSpPr txBox="1"/>
          <p:nvPr/>
        </p:nvSpPr>
        <p:spPr>
          <a:xfrm>
            <a:off x="5488807" y="4217896"/>
            <a:ext cx="73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97%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E638F6-988E-4E3D-9210-700649F9B15B}"/>
              </a:ext>
            </a:extLst>
          </p:cNvPr>
          <p:cNvSpPr txBox="1"/>
          <p:nvPr/>
        </p:nvSpPr>
        <p:spPr>
          <a:xfrm>
            <a:off x="9312080" y="3656111"/>
            <a:ext cx="1354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C000"/>
                </a:solidFill>
              </a:rPr>
              <a:t>97.2%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EC0541-8551-4580-8E92-C23438A331FE}"/>
              </a:ext>
            </a:extLst>
          </p:cNvPr>
          <p:cNvSpPr txBox="1"/>
          <p:nvPr/>
        </p:nvSpPr>
        <p:spPr>
          <a:xfrm>
            <a:off x="7122556" y="4217896"/>
            <a:ext cx="98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97%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006697-EA17-4626-A84F-5FD07A12DA14}"/>
              </a:ext>
            </a:extLst>
          </p:cNvPr>
          <p:cNvSpPr txBox="1"/>
          <p:nvPr/>
        </p:nvSpPr>
        <p:spPr>
          <a:xfrm>
            <a:off x="5246108" y="3254974"/>
            <a:ext cx="1160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96 – 99 %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C9B6EC-15A6-4268-B062-4D7520A1CE0B}"/>
              </a:ext>
            </a:extLst>
          </p:cNvPr>
          <p:cNvSpPr txBox="1"/>
          <p:nvPr/>
        </p:nvSpPr>
        <p:spPr>
          <a:xfrm>
            <a:off x="912813" y="5105400"/>
            <a:ext cx="10667999" cy="156966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i="0">
                <a:solidFill>
                  <a:srgbClr val="30F0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vi-VN" b="1" i="0">
                <a:solidFill>
                  <a:srgbClr val="30F0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=&gt; Model đạt accuracy ~97.2%, cùng với precision, recall và F1-score đều xấp xỉ 97%. Điều này cho thấy mô hình hoạt động ổn định và không có dấu hiệu lệch lớp rõ rệt. Với thuật toán KNN, mức </a:t>
            </a:r>
            <a:r>
              <a:rPr lang="en-US" b="1" i="0">
                <a:solidFill>
                  <a:srgbClr val="30F0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vi-VN" b="1" i="0">
                <a:solidFill>
                  <a:srgbClr val="30F0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ccuracy trên ~97% được xem là kết quả tốt trên tập MNIST, đặc biệt khi chưa áp dụng các kỹ thuật tối ưu nâng cao.</a:t>
            </a:r>
            <a:endParaRPr lang="vi-VN" b="0" i="0">
              <a:solidFill>
                <a:srgbClr val="30F04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73567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9" grpId="0"/>
      <p:bldP spid="30" grpId="0"/>
      <p:bldP spid="31" grpId="0"/>
      <p:bldP spid="32" grpId="0"/>
      <p:bldP spid="33" grpId="0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54020878-0365-43E1-B0F7-4E8ED6F01039}"/>
              </a:ext>
            </a:extLst>
          </p:cNvPr>
          <p:cNvSpPr txBox="1">
            <a:spLocks/>
          </p:cNvSpPr>
          <p:nvPr/>
        </p:nvSpPr>
        <p:spPr>
          <a:xfrm>
            <a:off x="1294526" y="239516"/>
            <a:ext cx="9599772" cy="1096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rgbClr val="30F047"/>
                </a:solidFill>
              </a:rPr>
              <a:t>PHÂN TÍCH MA TRẬN NHẦM LẪN (CONFUSION MATRIX)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777B5-5A0E-49F0-9825-A6F61C69E087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006C43-7EE5-4438-80A2-27E25DEDB1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5" t="5885" r="12804" b="2906"/>
          <a:stretch/>
        </p:blipFill>
        <p:spPr>
          <a:xfrm>
            <a:off x="989835" y="1382778"/>
            <a:ext cx="5805705" cy="521672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E784CA-2E3F-45D7-B694-0C82FB24A01C}"/>
              </a:ext>
            </a:extLst>
          </p:cNvPr>
          <p:cNvSpPr/>
          <p:nvPr/>
        </p:nvSpPr>
        <p:spPr>
          <a:xfrm>
            <a:off x="7491245" y="1981200"/>
            <a:ext cx="4038601" cy="4038601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7D095-9889-4A34-BAD2-6D789C99E2EE}"/>
              </a:ext>
            </a:extLst>
          </p:cNvPr>
          <p:cNvSpPr txBox="1"/>
          <p:nvPr/>
        </p:nvSpPr>
        <p:spPr>
          <a:xfrm>
            <a:off x="7809735" y="2743200"/>
            <a:ext cx="33528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2000" b="1" i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ahnschrift SemiBold SemiConden" panose="020B0502040204020203" pitchFamily="34" charset="0"/>
              </a:rPr>
              <a:t>Một số chữ số dễ bị nhầm lẫn do hình dạng tương tự.</a:t>
            </a:r>
          </a:p>
          <a:p>
            <a:pPr algn="l"/>
            <a:r>
              <a:rPr lang="vi-VN" sz="2000" b="1" i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ahnschrift SemiBold SemiConden" panose="020B0502040204020203" pitchFamily="34" charset="0"/>
              </a:rPr>
              <a:t>Ví dụ: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000" b="1" i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ahnschrift SemiBold SemiConden" panose="020B0502040204020203" pitchFamily="34" charset="0"/>
              </a:rPr>
              <a:t>4 ↔ 9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000" b="1" i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ahnschrift SemiBold SemiConden" panose="020B0502040204020203" pitchFamily="34" charset="0"/>
              </a:rPr>
              <a:t>7 ↔ 1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000" b="1" i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ahnschrift SemiBold SemiConden" panose="020B0502040204020203" pitchFamily="34" charset="0"/>
              </a:rPr>
              <a:t>8 ↔ 3</a:t>
            </a:r>
            <a:endParaRPr lang="en-US" sz="2000" b="1">
              <a:solidFill>
                <a:schemeClr val="accent1">
                  <a:lumMod val="40000"/>
                  <a:lumOff val="60000"/>
                </a:schemeClr>
              </a:solidFill>
              <a:latin typeface="Bahnschrift SemiBold SemiConden" panose="020B0502040204020203" pitchFamily="34" charset="0"/>
            </a:endParaRPr>
          </a:p>
          <a:p>
            <a:pPr indent="-152293"/>
            <a:r>
              <a:rPr lang="vi-VN" sz="2000" b="1" i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Bahnschrift SemiBold SemiConden" panose="020B0502040204020203" pitchFamily="34" charset="0"/>
              </a:rPr>
              <a:t>=&gt; Điều này xảy ra vì dữ liệu viết tay không đồng nhất.</a:t>
            </a:r>
          </a:p>
          <a:p>
            <a:endParaRPr 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5" name="Graphic 14" descr="Warning with solid fill">
            <a:extLst>
              <a:ext uri="{FF2B5EF4-FFF2-40B4-BE49-F238E27FC236}">
                <a16:creationId xmlns:a16="http://schemas.microsoft.com/office/drawing/2014/main" id="{7A42E877-2B2A-46CA-B601-6E5F876814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5435" y="2079733"/>
            <a:ext cx="587267" cy="58726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6607283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6B9F4F98-C9F8-4385-9103-6B233C9DA22F}"/>
              </a:ext>
            </a:extLst>
          </p:cNvPr>
          <p:cNvSpPr txBox="1">
            <a:spLocks/>
          </p:cNvSpPr>
          <p:nvPr/>
        </p:nvSpPr>
        <p:spPr>
          <a:xfrm>
            <a:off x="1294526" y="239516"/>
            <a:ext cx="9599772" cy="1096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rgbClr val="30F047"/>
                </a:solidFill>
              </a:rPr>
              <a:t>TỔNG KẾT &amp; ĐÁNH GIÁ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9CDC16-79B9-41FD-943B-5931D8055B34}"/>
              </a:ext>
            </a:extLst>
          </p:cNvPr>
          <p:cNvSpPr/>
          <p:nvPr/>
        </p:nvSpPr>
        <p:spPr>
          <a:xfrm>
            <a:off x="1065212" y="609600"/>
            <a:ext cx="152400" cy="6858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BC3159-3F6C-4A62-B53B-2A1E0EDA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6" y="2514600"/>
            <a:ext cx="8938472" cy="2514600"/>
          </a:xfrm>
        </p:spPr>
        <p:txBody>
          <a:bodyPr>
            <a:normAutofit/>
          </a:bodyPr>
          <a:lstStyle/>
          <a:p>
            <a:r>
              <a:rPr lang="vi-VN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 điểm: </a:t>
            </a:r>
            <a:r>
              <a:rPr lang="vi-V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 cực kỳ hiệu quả với bộ dữ liệu MNIST, cho độ chính xác cao mà không cần kiến trúc phức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tạp.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Nhược điểm: </a:t>
            </a:r>
            <a:r>
              <a:rPr lang="vi-V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Tốc độ dự đoan cham khi tap du lieu lớn do phai tính toan khoang cach với mọi điểm huấn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luyện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vi-V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Hướng phát triển: </a:t>
            </a:r>
            <a:r>
              <a:rPr lang="vi-V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Áp dụng PCA (Giảm chiều dữ liệu) để tăng tốc độ tính toán hoặc sử dụng CNN (Mạng nơ-ron tích chập) để đạt độ chính xác &gt;99%.</a:t>
            </a: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Rocket with solid fill">
            <a:extLst>
              <a:ext uri="{FF2B5EF4-FFF2-40B4-BE49-F238E27FC236}">
                <a16:creationId xmlns:a16="http://schemas.microsoft.com/office/drawing/2014/main" id="{C980601A-2144-44E1-8DAC-899FAFADCA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376" y="4491911"/>
            <a:ext cx="452400" cy="452400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E2D10F41-0D2D-4818-8158-E5325685C2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5376" y="2934451"/>
            <a:ext cx="452400" cy="452400"/>
          </a:xfrm>
          <a:prstGeom prst="rect">
            <a:avLst/>
          </a:prstGeom>
        </p:spPr>
      </p:pic>
      <p:pic>
        <p:nvPicPr>
          <p:cNvPr id="13" name="Graphic 12" descr="Close with solid fill">
            <a:extLst>
              <a:ext uri="{FF2B5EF4-FFF2-40B4-BE49-F238E27FC236}">
                <a16:creationId xmlns:a16="http://schemas.microsoft.com/office/drawing/2014/main" id="{E75A60F3-3838-4722-9731-8C006CD32C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376" y="3695700"/>
            <a:ext cx="452400" cy="4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224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0394" y="1600200"/>
            <a:ext cx="10108035" cy="41359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>
                <a:solidFill>
                  <a:srgbClr val="30F047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XIN </a:t>
            </a:r>
            <a:r>
              <a:rPr lang="vi-VN" sz="3000">
                <a:solidFill>
                  <a:srgbClr val="30F047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CẢM ƠN</a:t>
            </a:r>
            <a:r>
              <a:rPr lang="en-US" sz="3000">
                <a:solidFill>
                  <a:srgbClr val="30F047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 THẦY CÔ &amp; CÁC BẠN ĐÃ XEM</a:t>
            </a:r>
            <a:r>
              <a:rPr lang="vi-VN" sz="3000">
                <a:solidFill>
                  <a:srgbClr val="30F047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!</a:t>
            </a:r>
            <a:br>
              <a:rPr lang="en-US" sz="3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</a:t>
            </a:r>
            <a:br>
              <a:rPr lang="en-US" sz="3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cap="none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Sinh viên thực hiện: </a:t>
            </a:r>
            <a:r>
              <a:rPr lang="en-US" sz="3200" cap="none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cs typeface="Times New Roman" panose="02020603050405020304" pitchFamily="18" charset="0"/>
              </a:rPr>
              <a:t>Nguyễn Thành Trung</a:t>
            </a:r>
            <a:b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Mã số SV: 170122293</a:t>
            </a:r>
            <a:b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Mã lớp: DX22TT8016</a:t>
            </a:r>
            <a:b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Đại học Trà Vinh</a:t>
            </a:r>
            <a:b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3200" cap="none">
                <a:solidFill>
                  <a:srgbClr val="30F047"/>
                </a:solidFill>
                <a:latin typeface="+mj-lt"/>
                <a:cs typeface="Times New Roman" panose="02020603050405020304" pitchFamily="18" charset="0"/>
              </a:rPr>
              <a:t>=================================</a:t>
            </a:r>
            <a:br>
              <a:rPr lang="en-US" sz="3200" cap="none">
                <a:solidFill>
                  <a:srgbClr val="30F047"/>
                </a:solidFill>
                <a:latin typeface="+mj-lt"/>
                <a:cs typeface="Times New Roman" panose="02020603050405020304" pitchFamily="18" charset="0"/>
              </a:rPr>
            </a:br>
            <a:br>
              <a:rPr lang="en-US" sz="32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7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Thông tin liên hệ</a:t>
            </a:r>
            <a:br>
              <a:rPr lang="en-US" sz="27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7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Mail: </a:t>
            </a:r>
            <a:r>
              <a:rPr lang="en-US" sz="27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  <a:hlinkClick r:id="rId2"/>
              </a:rPr>
              <a:t>170122293@rdi.edu.vn</a:t>
            </a:r>
            <a:br>
              <a:rPr lang="en-US" sz="27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2700" cap="none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anose="02020603050405020304" pitchFamily="18" charset="0"/>
              </a:rPr>
              <a:t>Phone: 0816.221.299</a:t>
            </a:r>
            <a:endParaRPr lang="en-US" sz="300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032563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873beb7-5857-4685-be1f-d57550cc96cc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916</Words>
  <Application>Microsoft Office PowerPoint</Application>
  <PresentationFormat>Custom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Bahnschrift SemiBold SemiConden</vt:lpstr>
      <vt:lpstr>Calibri</vt:lpstr>
      <vt:lpstr>Cambria Math</vt:lpstr>
      <vt:lpstr>Courier New</vt:lpstr>
      <vt:lpstr>Times New Roman</vt:lpstr>
      <vt:lpstr>Wingdings</vt:lpstr>
      <vt:lpstr>Tech 16x9</vt:lpstr>
      <vt:lpstr>NHẬN DẠNG CHỮ SỐ VIẾT TAY BẰNG THUẬT TOÁN KNN</vt:lpstr>
      <vt:lpstr>TỔNG QUAN DỰ ÁN</vt:lpstr>
      <vt:lpstr>THUẬT TOÁN K – NEAREST NEIGHBORS</vt:lpstr>
      <vt:lpstr>DỮ LIỆU MNIST</vt:lpstr>
      <vt:lpstr> </vt:lpstr>
      <vt:lpstr>Chuyển đổi kích thước </vt:lpstr>
      <vt:lpstr>XÂY DỰNG MÔ HÌNH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Ưu điểm: KNN cực kỳ hiệu quả với bộ dữ liệu MNIST, cho độ chính xác cao mà không cần kiến trúc phức tạp.   Nhược điểm: Tốc độ dự đoan cham khi tap du lieu lớn do phai tính toan khoang cach với mọi điểm huấn luyện.   Hướng phát triển: Áp dụng PCA (Giảm chiều dữ liệu) để tăng tốc độ tính toán hoặc sử dụng CNN (Mạng nơ-ron tích chập) để đạt độ chính xác &gt;99%.</vt:lpstr>
      <vt:lpstr>XIN CẢM ƠN THẦY CÔ &amp; CÁC BẠN ĐÃ XEM!  -----------------------------------------------------------  Sinh viên thực hiện: Nguyễn Thành Trung Mã số SV: 170122293 Mã lớp: DX22TT8016 Đại học Trà Vinh =================================  Thông tin liên hệ Mail: 170122293@rdi.edu.vn Phone: 0816.221.299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NHẬN DẠNG CHỮ SỐ VIẾT TAY BẰNG THUẬT TOÁN KNN</dc:title>
  <dc:creator>Thành Trung Nguyễn</dc:creator>
  <cp:lastModifiedBy>Thành Trung Nguyễn</cp:lastModifiedBy>
  <cp:revision>148</cp:revision>
  <dcterms:created xsi:type="dcterms:W3CDTF">2026-05-02T12:55:57Z</dcterms:created>
  <dcterms:modified xsi:type="dcterms:W3CDTF">2026-05-04T03:13:30Z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